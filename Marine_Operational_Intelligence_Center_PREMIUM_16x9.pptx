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MARINE OPERATIONAL N8N INTELLIGENCE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01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PREMIUM COMPANY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9C1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11183112" cy="5212080"/>
          </a:xfrm>
          <a:prstGeom prst="roundRect">
            <a:avLst/>
          </a:prstGeom>
          <a:solidFill>
            <a:srgbClr val="0B2B46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98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ptos"/>
              </a:defRPr>
            </a:pPr>
            <a:r>
              <a:t>DIGITAL MARITIME OPERATIONS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7132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7FBFF"/>
                </a:solidFill>
                <a:latin typeface="Aptos"/>
              </a:defRPr>
            </a:pPr>
            <a:r>
              <a:t>MARINE OPERATIONAL</a:t>
            </a:r>
            <a:br/>
            <a:r>
              <a:t>N8N INTELLIGENCE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090672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9C1D4"/>
                </a:solidFill>
                <a:latin typeface="Aptos"/>
              </a:defRPr>
            </a:pPr>
            <a:r>
              <a:t>One command environment for fleet operations, fuel efficiency, QHSSE,</a:t>
            </a:r>
            <a:br/>
            <a:r>
              <a:t>AI-assisted intelligence and N8N workflow automation.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51960"/>
            <a:ext cx="2423160" cy="123444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54864" cy="123444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4165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FLEET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782312"/>
            <a:ext cx="20574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Voyage • PMS • Defects • Certificates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4251960"/>
            <a:ext cx="2423160" cy="123444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6432" y="4251960"/>
            <a:ext cx="54864" cy="123444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4165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FUEL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782312"/>
            <a:ext cx="20574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DPR • RPM • Consumption •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4251960"/>
            <a:ext cx="2423160" cy="123444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9904" y="4251960"/>
            <a:ext cx="54864" cy="123444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44165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QHSSE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4782312"/>
            <a:ext cx="20574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Incident • Audit • Risk • 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23376" y="4251960"/>
            <a:ext cx="2423160" cy="123444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23376" y="4251960"/>
            <a:ext cx="54864" cy="123444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4544" y="44165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AI + N8N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4" y="4782312"/>
            <a:ext cx="20574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Analysis • Alerts •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5760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4D399"/>
                </a:solidFill>
                <a:latin typeface="Aptos"/>
              </a:defRPr>
            </a:pPr>
            <a:r>
              <a:t>● SYSTEM 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MARINE OPERATIONAL N8N INTELLIGENCE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01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EXECUTIVE COMMAND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9C1D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FBFF"/>
                </a:solidFill>
                <a:latin typeface="Aptos"/>
              </a:defRPr>
            </a:pPr>
            <a:r>
              <a:t>Executive Digital Command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070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9C1D4"/>
                </a:solidFill>
                <a:latin typeface="Aptos"/>
              </a:defRPr>
            </a:pPr>
            <a:r>
              <a:t>Real-time operational visibility across fleet, fuel, safety and workflow automation.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06040" cy="914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11095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FLEET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67128"/>
            <a:ext cx="2276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FBFF"/>
                </a:solidFill>
                <a:latin typeface="Aptos"/>
              </a:defRPr>
            </a:pPr>
            <a:r>
              <a:t>ONLINE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1929384"/>
            <a:ext cx="91440" cy="9144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19272" y="1783080"/>
            <a:ext cx="2606040" cy="914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911095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FUEL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167128"/>
            <a:ext cx="2276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FBFF"/>
                </a:solidFill>
                <a:latin typeface="Aptos"/>
              </a:defRPr>
            </a:pPr>
            <a:r>
              <a:t>ONLINE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929384"/>
            <a:ext cx="91440" cy="9144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35624" y="1783080"/>
            <a:ext cx="2606040" cy="914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911095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QHSSE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167128"/>
            <a:ext cx="2276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FBFF"/>
                </a:solidFill>
                <a:latin typeface="Aptos"/>
              </a:defRPr>
            </a:pPr>
            <a:r>
              <a:t>ONLINE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2" y="1929384"/>
            <a:ext cx="91440" cy="9144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51976" y="1783080"/>
            <a:ext cx="2606040" cy="914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1911095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N8N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167128"/>
            <a:ext cx="2276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FBF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01984" y="1929384"/>
            <a:ext cx="91440" cy="9144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2926080"/>
            <a:ext cx="7040880" cy="29718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2926080"/>
            <a:ext cx="54864" cy="29718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090672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GLOBAL FLEET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3456432"/>
            <a:ext cx="667512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INDONESIA / REGIONAL OPERATIONS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160520"/>
            <a:ext cx="109728" cy="10972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07007" y="4215383"/>
            <a:ext cx="576072" cy="13716"/>
          </a:xfrm>
          <a:prstGeom prst="rect">
            <a:avLst/>
          </a:prstGeom>
          <a:solidFill>
            <a:srgbClr val="2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011680" y="3794760"/>
            <a:ext cx="109728" cy="10972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21408" y="3849624"/>
            <a:ext cx="576071" cy="13716"/>
          </a:xfrm>
          <a:prstGeom prst="rect">
            <a:avLst/>
          </a:prstGeom>
          <a:solidFill>
            <a:srgbClr val="2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43200" y="4343400"/>
            <a:ext cx="109728" cy="10972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52928" y="4398264"/>
            <a:ext cx="576071" cy="13716"/>
          </a:xfrm>
          <a:prstGeom prst="rect">
            <a:avLst/>
          </a:prstGeom>
          <a:solidFill>
            <a:srgbClr val="2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49039" y="3931920"/>
            <a:ext cx="109728" cy="10972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58768" y="3986783"/>
            <a:ext cx="576071" cy="13716"/>
          </a:xfrm>
          <a:prstGeom prst="rect">
            <a:avLst/>
          </a:prstGeom>
          <a:solidFill>
            <a:srgbClr val="2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0" y="4526280"/>
            <a:ext cx="109728" cy="10972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81728" y="4581144"/>
            <a:ext cx="576071" cy="13716"/>
          </a:xfrm>
          <a:prstGeom prst="rect">
            <a:avLst/>
          </a:prstGeom>
          <a:solidFill>
            <a:srgbClr val="2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23560" y="4023360"/>
            <a:ext cx="109728" cy="10972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33288" y="4078224"/>
            <a:ext cx="576071" cy="13716"/>
          </a:xfrm>
          <a:prstGeom prst="rect">
            <a:avLst/>
          </a:prstGeom>
          <a:solidFill>
            <a:srgbClr val="2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83680" y="4389120"/>
            <a:ext cx="109728" cy="10972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93408" y="4443983"/>
            <a:ext cx="347471" cy="13716"/>
          </a:xfrm>
          <a:prstGeom prst="rect">
            <a:avLst/>
          </a:prstGeom>
          <a:solidFill>
            <a:srgbClr val="2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25780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9C1D4"/>
                </a:solidFill>
                <a:latin typeface="Aptos"/>
              </a:defRPr>
            </a:pPr>
            <a:r>
              <a:t>Fleet Map • Vessel Status • Voyage • Alerts • Action Tracker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2926080"/>
            <a:ext cx="3913632" cy="132588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0" y="2926080"/>
            <a:ext cx="54864" cy="132588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3568" y="309067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MANAGEMENT ALERTS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8" y="3456432"/>
            <a:ext cx="35478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03 Open actions</a:t>
            </a:r>
            <a:br/>
            <a:r>
              <a:t>01 Maintenance attention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4480560"/>
            <a:ext cx="3913632" cy="141732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4480560"/>
            <a:ext cx="54864" cy="141732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464515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SYSTEM HEALTH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73568" y="5010912"/>
            <a:ext cx="354787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Cloud Deployment     ONLINE</a:t>
            </a:r>
            <a:br/>
            <a:r>
              <a:t>Operational Modules  READY</a:t>
            </a:r>
            <a:br/>
            <a:r>
              <a:t>Workflow Layer      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MARINE OPERATIONAL N8N INTELLIGENCE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01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MARINE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9C1D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FBFF"/>
                </a:solidFill>
                <a:latin typeface="Aptos"/>
              </a:defRPr>
            </a:pPr>
            <a:r>
              <a:t>Marine Operations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070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9C1D4"/>
                </a:solidFill>
                <a:latin typeface="Aptos"/>
              </a:defRPr>
            </a:pPr>
            <a:r>
              <a:t>A unified operational workspace from voyage execution to maintenance, compliance and action closure.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493008" cy="173736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4864" cy="173736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VOYAGE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13432"/>
            <a:ext cx="312724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Voyage records</a:t>
            </a:r>
            <a:br/>
            <a:r>
              <a:t>Delay / exception</a:t>
            </a:r>
            <a:br/>
            <a:r>
              <a:t>Attention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33672" y="1783080"/>
            <a:ext cx="3493008" cy="173736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783080"/>
            <a:ext cx="54864" cy="173736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94767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PMS / 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13432"/>
            <a:ext cx="312724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Maintenance facts</a:t>
            </a:r>
            <a:br/>
            <a:r>
              <a:t>Data gaps</a:t>
            </a:r>
            <a:br/>
            <a:r>
              <a:t>Risk &amp; priority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4424" y="1783080"/>
            <a:ext cx="3493008" cy="173736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4424" y="1783080"/>
            <a:ext cx="54864" cy="173736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94767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DEFECTS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313432"/>
            <a:ext cx="312724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Open defects</a:t>
            </a:r>
            <a:br/>
            <a:r>
              <a:t>Criticality</a:t>
            </a:r>
            <a:br/>
            <a:r>
              <a:t>Closure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40480"/>
            <a:ext cx="3493008" cy="173736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40480"/>
            <a:ext cx="54864" cy="173736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00507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CERTIFICATES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370832"/>
            <a:ext cx="312724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Expiry monitoring</a:t>
            </a:r>
            <a:br/>
            <a:r>
              <a:t>Compliance status</a:t>
            </a:r>
            <a:br/>
            <a:r>
              <a:t>Document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33672" y="3840480"/>
            <a:ext cx="3493008" cy="173736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33672" y="3840480"/>
            <a:ext cx="54864" cy="173736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00507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BUNKER &amp; CARGO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370832"/>
            <a:ext cx="312724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Fuel records</a:t>
            </a:r>
            <a:br/>
            <a:r>
              <a:t>Cargo intelligence</a:t>
            </a:r>
            <a:br/>
            <a:r>
              <a:t>Operational variance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64424" y="3840480"/>
            <a:ext cx="3493008" cy="173736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64424" y="3840480"/>
            <a:ext cx="54864" cy="1737360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400507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AUDIT &amp;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4370832"/>
            <a:ext cx="312724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Findings</a:t>
            </a:r>
            <a:br/>
            <a:r>
              <a:t>Corrective actions</a:t>
            </a:r>
            <a:br/>
            <a:r>
              <a:t>Management follow-up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Aptos"/>
              </a:defRPr>
            </a:pPr>
            <a:r>
              <a:t>FROM VESSEL DATA → OPERATIONAL FACTS → RISK VISIBILITY → MANAGEMENT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MARINE OPERATIONAL N8N INTELLIGENCE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01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FUEL EFFICIENCY BBM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9C1D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FBFF"/>
                </a:solidFill>
                <a:latin typeface="Aptos"/>
              </a:defRPr>
            </a:pPr>
            <a:r>
              <a:t>Fuel Efficiency BBM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070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9C1D4"/>
                </a:solidFill>
                <a:latin typeface="Aptos"/>
              </a:defRPr>
            </a:pPr>
            <a:r>
              <a:t>DPR-driven fuel control for Main Engine, Auxiliary Engine, RPM performance and daily management visibility.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51760" cy="914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11095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MAIN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67128"/>
            <a:ext cx="2322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FBFF"/>
                </a:solidFill>
                <a:latin typeface="Aptos"/>
              </a:defRPr>
            </a:pPr>
            <a:r>
              <a:t>220 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1929384"/>
            <a:ext cx="91440" cy="9144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4992" y="1783080"/>
            <a:ext cx="2651760" cy="914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1911095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AUXILIARY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167128"/>
            <a:ext cx="2322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FBFF"/>
                </a:solidFill>
                <a:latin typeface="Aptos"/>
              </a:defRPr>
            </a:pPr>
            <a:r>
              <a:t>50 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929384"/>
            <a:ext cx="91440" cy="91440"/>
          </a:xfrm>
          <a:prstGeom prst="round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27064" y="1783080"/>
            <a:ext cx="2651760" cy="914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1911095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TOTAL BBM / MGO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167128"/>
            <a:ext cx="2322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FBFF"/>
                </a:solidFill>
                <a:latin typeface="Aptos"/>
              </a:defRPr>
            </a:pPr>
            <a:r>
              <a:t>270 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22792" y="1929384"/>
            <a:ext cx="91440" cy="9144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89136" y="1783080"/>
            <a:ext cx="2596896" cy="914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911095"/>
            <a:ext cx="2267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RPM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1671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FBFF"/>
                </a:solidFill>
                <a:latin typeface="Aptos"/>
              </a:defRPr>
            </a:pPr>
            <a:r>
              <a:t>600 RPM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0" y="1929384"/>
            <a:ext cx="91440" cy="9144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2971800"/>
            <a:ext cx="6903720" cy="288036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2971800"/>
            <a:ext cx="54864" cy="288036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136392"/>
            <a:ext cx="6537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RPM &amp; CONSUMPTION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3502152"/>
            <a:ext cx="6537959" cy="2221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600      700      800      900      1000      1100      1200      1300</a:t>
            </a:r>
            <a:br/>
            <a:br/>
            <a:r>
              <a:t>▂         ▃         ▄         ▅          ▆           ▇           █           █</a:t>
            </a:r>
            <a:br/>
            <a:br/>
            <a:r>
              <a:t>Main Engine Left + Right • Auxiliary Engine 24h • Variance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2971800"/>
            <a:ext cx="4050791" cy="1298448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35240" y="2971800"/>
            <a:ext cx="54864" cy="12984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3136392"/>
            <a:ext cx="36850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ENGINE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3502152"/>
            <a:ext cx="36850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Maker • Model • Rated kW/HP • Rated RPM • SFOC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4498848"/>
            <a:ext cx="4050791" cy="1353312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35240" y="4498848"/>
            <a:ext cx="54864" cy="1353312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36408" y="4663440"/>
            <a:ext cx="36850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MANAGEMENT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6408" y="5029200"/>
            <a:ext cx="3685031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L/h • L/day • ton/day • L/nm • Cost/day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MARINE OPERATIONAL N8N INTELLIGENCE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01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QHSSE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9C1D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FBFF"/>
                </a:solidFill>
                <a:latin typeface="Aptos"/>
              </a:defRPr>
            </a:pPr>
            <a:r>
              <a:t>QHSSE Company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070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9C1D4"/>
                </a:solidFill>
                <a:latin typeface="Aptos"/>
              </a:defRPr>
            </a:pPr>
            <a:r>
              <a:t>Structured visibility for incidents, inspections, risk, corrective actions and regulatory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06040" cy="914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11095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INCIDENT / NEAR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67128"/>
            <a:ext cx="2276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FBFF"/>
                </a:solidFill>
                <a:latin typeface="Aptos"/>
              </a:defRPr>
            </a:pPr>
            <a:r>
              <a:t>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1929384"/>
            <a:ext cx="91440" cy="9144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19272" y="1783080"/>
            <a:ext cx="2606040" cy="914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911095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OPEN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167128"/>
            <a:ext cx="2276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FB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929384"/>
            <a:ext cx="91440" cy="9144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35624" y="1783080"/>
            <a:ext cx="2606040" cy="914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911095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CORRECTIVE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167128"/>
            <a:ext cx="2276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FB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2" y="1929384"/>
            <a:ext cx="91440" cy="9144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51976" y="1783080"/>
            <a:ext cx="2606040" cy="914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1911095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167128"/>
            <a:ext cx="2276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FBFF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01984" y="1929384"/>
            <a:ext cx="91440" cy="9144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2971800"/>
            <a:ext cx="3493008" cy="265176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2971800"/>
            <a:ext cx="54864" cy="2651760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13639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INCIDENT &amp; NEAR MISS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3502152"/>
            <a:ext cx="3127248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Capture events</a:t>
            </a:r>
            <a:br/>
            <a:r>
              <a:t>Classification</a:t>
            </a:r>
            <a:br/>
            <a:r>
              <a:t>Immediate actions</a:t>
            </a:r>
            <a:br/>
            <a:r>
              <a:t>Management visibility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0520" y="2971800"/>
            <a:ext cx="3493008" cy="265176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60520" y="2971800"/>
            <a:ext cx="54864" cy="265176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313639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INSPECTION &amp;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3502152"/>
            <a:ext cx="3127248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Inspection records</a:t>
            </a:r>
            <a:br/>
            <a:r>
              <a:t>Findings</a:t>
            </a:r>
            <a:br/>
            <a:r>
              <a:t>Evidence</a:t>
            </a:r>
            <a:br/>
            <a:r>
              <a:t>Closure tracking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2971800"/>
            <a:ext cx="3867912" cy="265176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8120" y="2971800"/>
            <a:ext cx="54864" cy="265176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9288" y="3136392"/>
            <a:ext cx="3502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RISK &amp;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3502152"/>
            <a:ext cx="3502152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Risk register</a:t>
            </a:r>
            <a:br/>
            <a:r>
              <a:t>Corrective action</a:t>
            </a:r>
            <a:br/>
            <a:r>
              <a:t>Regulatory compliance</a:t>
            </a:r>
            <a:br/>
            <a:r>
              <a:t>Safety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MARINE OPERATIONAL N8N INTELLIGENCE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01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AI + N8N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9C1D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FBFF"/>
                </a:solidFill>
                <a:latin typeface="Aptos"/>
              </a:defRPr>
            </a:pPr>
            <a:r>
              <a:t>Marine AI Co-Pilot + N8N Workflow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070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9C1D4"/>
                </a:solidFill>
                <a:latin typeface="Aptos"/>
              </a:defRPr>
            </a:pPr>
            <a:r>
              <a:t>Transform operational data into summaries, risk signals, management actions and automated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349240" cy="4343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4864" cy="43434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983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MARINE AI CO-PILOT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13432"/>
            <a:ext cx="4983479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• Natural-language operational assistance</a:t>
            </a:r>
            <a:br/>
            <a:r>
              <a:t>• Data analysis and summaries</a:t>
            </a:r>
            <a:br/>
            <a:r>
              <a:t>• Risk identification</a:t>
            </a:r>
            <a:br/>
            <a:r>
              <a:t>• Management recommendations</a:t>
            </a:r>
            <a:br/>
            <a:r>
              <a:t>• Cross-module intelligence workspace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783080"/>
            <a:ext cx="5605272" cy="43434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783080"/>
            <a:ext cx="54864" cy="434340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947672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N8N WORKFLOW CENTER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313432"/>
            <a:ext cx="5239512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• Operational notifications</a:t>
            </a:r>
            <a:br/>
            <a:r>
              <a:t>• Automated reporting workflows</a:t>
            </a:r>
            <a:br/>
            <a:r>
              <a:t>• Approval processes</a:t>
            </a:r>
            <a:br/>
            <a:r>
              <a:t>• Data integration</a:t>
            </a:r>
            <a:br/>
            <a:r>
              <a:t>• Management alerts</a:t>
            </a:r>
            <a:br/>
            <a:r>
              <a:t>• Scalable company workflow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362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Aptos"/>
              </a:defRPr>
            </a:pPr>
            <a:r>
              <a:t>DATA → INTELLIGENCE → DECISION → WORKFLOW → FOLLOW-UP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MARINE OPERATIONAL N8N INTELLIGENCE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01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DEPLOYMENT &amp; CUSTOMIZATION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9C1D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FBFF"/>
                </a:solidFill>
                <a:latin typeface="Aptos"/>
              </a:defRPr>
            </a:pPr>
            <a:r>
              <a:t>Deployment &amp; Company Customization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070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9C1D4"/>
                </a:solidFill>
                <a:latin typeface="Aptos"/>
              </a:defRPr>
            </a:pPr>
            <a:r>
              <a:t>A configurable platform for individual shipping companies and multi-vessel operational environments.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493008" cy="18288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4864" cy="18288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CLOUD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13432"/>
            <a:ext cx="31272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Browser-based access</a:t>
            </a:r>
            <a:br/>
            <a:r>
              <a:t>Centralized application</a:t>
            </a:r>
            <a:br/>
            <a:r>
              <a:t>Fast deployment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783080"/>
            <a:ext cx="3493008" cy="18288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783080"/>
            <a:ext cx="54864" cy="182880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94767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COMPANY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313432"/>
            <a:ext cx="31272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Company logo &amp; name</a:t>
            </a:r>
            <a:br/>
            <a:r>
              <a:t>User access</a:t>
            </a:r>
            <a:br/>
            <a:r>
              <a:t>Management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783080"/>
            <a:ext cx="3867912" cy="182880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1783080"/>
            <a:ext cx="54864" cy="182880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1947672"/>
            <a:ext cx="3502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FLEET 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2313432"/>
            <a:ext cx="35021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Vessel database</a:t>
            </a:r>
            <a:br/>
            <a:r>
              <a:t>Operational modules</a:t>
            </a:r>
            <a:br/>
            <a:r>
              <a:t>Multi-vessel 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86200"/>
            <a:ext cx="11183112" cy="178308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86200"/>
            <a:ext cx="54864" cy="178308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050791"/>
            <a:ext cx="10817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FBFF"/>
                </a:solidFill>
                <a:latin typeface="Aptos"/>
              </a:defRPr>
            </a:pPr>
            <a:r>
              <a:t>CUSTOMIZATION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416552"/>
            <a:ext cx="1081735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9C1D4"/>
                </a:solidFill>
                <a:latin typeface="Aptos"/>
              </a:defRPr>
            </a:pPr>
            <a:r>
              <a:t>Company Logo  •  Company Name  •  Vessel Database  •  User Access  •  Operational Modules  •  Reports  •  AI Services  •  Workflow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9C1D4"/>
                </a:solidFill>
                <a:latin typeface="Aptos"/>
              </a:defRPr>
            </a:pPr>
            <a:r>
              <a:t>Designed to scale from a focused operational deployment to a wider company intelligence environment.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MARINE OPERATIONAL N8N INTELLIGENCE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01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LIVE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9C1D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FBFF"/>
                </a:solidFill>
                <a:latin typeface="Aptos"/>
              </a:defRPr>
            </a:pPr>
            <a:r>
              <a:t>Interactive Live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070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9C1D4"/>
                </a:solidFill>
                <a:latin typeface="Aptos"/>
              </a:defRPr>
            </a:pPr>
            <a:r>
              <a:t>A guided executive journey through the operational intelligence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429000" cy="141732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9933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029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BFF"/>
                </a:solidFill>
                <a:latin typeface="Aptos"/>
              </a:defRPr>
            </a:pPr>
            <a:r>
              <a:t>COMMAND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3957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9C1D4"/>
                </a:solidFill>
                <a:latin typeface="Aptos"/>
              </a:defRPr>
            </a:pPr>
            <a:r>
              <a:t>Open module → review intelligence → demonstrate management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28800"/>
            <a:ext cx="3429000" cy="141732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9933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029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BFF"/>
                </a:solidFill>
                <a:latin typeface="Aptos"/>
              </a:defRPr>
            </a:pPr>
            <a:r>
              <a:t>MARINE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3957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9C1D4"/>
                </a:solidFill>
                <a:latin typeface="Aptos"/>
              </a:defRPr>
            </a:pPr>
            <a:r>
              <a:t>Open module → review intelligence → demonstrate management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429000" cy="141732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9933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029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BFF"/>
                </a:solidFill>
                <a:latin typeface="Aptos"/>
              </a:defRPr>
            </a:pPr>
            <a:r>
              <a:t>FUEL EFFICIENCY BBM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3957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9C1D4"/>
                </a:solidFill>
                <a:latin typeface="Aptos"/>
              </a:defRPr>
            </a:pPr>
            <a:r>
              <a:t>Open module → review intelligence → demonstrate management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57600"/>
            <a:ext cx="3429000" cy="141732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82219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38587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BFF"/>
                </a:solidFill>
                <a:latin typeface="Aptos"/>
              </a:defRPr>
            </a:pPr>
            <a:r>
              <a:t>QHSSE COMPANY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2245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9C1D4"/>
                </a:solidFill>
                <a:latin typeface="Aptos"/>
              </a:defRPr>
            </a:pPr>
            <a:r>
              <a:t>Open module → review intelligence → demonstrate management 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657600"/>
            <a:ext cx="3429000" cy="141732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382219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8587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BFF"/>
                </a:solidFill>
                <a:latin typeface="Aptos"/>
              </a:defRPr>
            </a:pPr>
            <a:r>
              <a:t>AI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2245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9C1D4"/>
                </a:solidFill>
                <a:latin typeface="Aptos"/>
              </a:defRPr>
            </a:pPr>
            <a:r>
              <a:t>Open module → review intelligence → demonstrate management value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657600"/>
            <a:ext cx="3429000" cy="1417320"/>
          </a:xfrm>
          <a:prstGeom prst="roundRect">
            <a:avLst/>
          </a:prstGeom>
          <a:solidFill>
            <a:srgbClr val="0D2940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382219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8587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BFF"/>
                </a:solidFill>
                <a:latin typeface="Aptos"/>
              </a:defRPr>
            </a:pPr>
            <a:r>
              <a:t>N8N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2245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9C1D4"/>
                </a:solidFill>
                <a:latin typeface="Aptos"/>
              </a:defRPr>
            </a:pPr>
            <a:r>
              <a:t>Open module → review intelligence → demonstrate management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Aptos"/>
              </a:defRPr>
            </a:pPr>
            <a:r>
              <a:t>LIVE WEB PLATFORM • NO DESKTOP INSTALLATION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9C1D4"/>
                </a:solidFill>
                <a:latin typeface="Aptos"/>
              </a:defRPr>
            </a:pPr>
            <a:r>
              <a:t>MARINE OPERATIONAL N8N INTELLIGENCE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01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9C1D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11183112" cy="5257800"/>
          </a:xfrm>
          <a:prstGeom prst="roundRect">
            <a:avLst/>
          </a:prstGeom>
          <a:solidFill>
            <a:srgbClr val="0B2B46"/>
          </a:solidFill>
          <a:ln>
            <a:solidFill>
              <a:srgbClr val="2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6675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7FBFF"/>
                </a:solidFill>
                <a:latin typeface="Aptos"/>
              </a:defRPr>
            </a:pPr>
            <a:r>
              <a:t>ONE PLATFORM.</a:t>
            </a:r>
            <a:br/>
            <a:r>
              <a:t>ONE OPERATIONAL VIEW.</a:t>
            </a:r>
            <a:br/>
            <a:r>
              <a:t>BETTER MARITIME VISIBILITY.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703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ptos"/>
              </a:defRPr>
            </a:pPr>
            <a:r>
              <a:t>MARINE OPERATIONS  •  FUEL EFFICIENCY BBM  •  QHSSE  •  AI  •  N8N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22452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9C1D4"/>
                </a:solidFill>
                <a:latin typeface="Aptos"/>
              </a:defRPr>
            </a:pPr>
            <a:r>
              <a:t>Integrated Digital Maritime Operations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983480"/>
            <a:ext cx="3017520" cy="59436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513892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71A2B"/>
                </a:solidFill>
                <a:latin typeface="Aptos"/>
              </a:defRPr>
            </a:pPr>
            <a:r>
              <a:t>LIVE DEMO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8064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7FBFF"/>
                </a:solidFill>
                <a:latin typeface="Aptos"/>
              </a:defRPr>
            </a:pPr>
            <a:r>
              <a:t>MARINE OPERATIONAL N8N INTELLIGENCE CENTER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